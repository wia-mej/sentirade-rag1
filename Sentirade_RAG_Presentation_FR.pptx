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914400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0D4FF"/>
                </a:solidFill>
              </a:rPr>
              <a:t>SENTIRADE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0C4DE"/>
                </a:solidFill>
              </a:rPr>
              <a:t>Système de Trading Intelligent basé sur le RAG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578608"/>
            <a:ext cx="1399032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2578608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Agent 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2578608"/>
            <a:ext cx="1399032" cy="34747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2496" y="2578608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GMM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6392" y="2578608"/>
            <a:ext cx="1399032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578608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XGBoost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0288" y="2578608"/>
            <a:ext cx="1399032" cy="347472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ChromaDB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44184" y="2578608"/>
            <a:ext cx="1399032" cy="347472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4184" y="2578608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LLaMA 3.3 70B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578608"/>
            <a:ext cx="1399032" cy="347472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2578608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Electron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S1 · S2 · S3 · S4   |   ISITD 2024 — S4 Machine Learning   |  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9966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Problématique &amp; Objectif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2527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Pourquoi fusionner technique, news et ML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60020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45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367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Les Données — Vue d'ensemble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89280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Deux phases : simulées puis Kaggle réelles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24028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286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276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Datasets Kaggle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5328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Stock Market Dataset + Financial Phrase Bank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8036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16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Architecture RAG &amp; Agent 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1729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ChromaDB, Groq LLaMA 3.3, boucle ReAct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52044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566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557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Analyse Technique — Couche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1304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RSI, Volatilité, MA Spread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16052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206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1970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Détection de Régime — GMM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53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Apprentissage non supervisé, 3 régimes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96012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9966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Sentiment RAG — Couche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2527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Embeddings, retrieval, génération 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60020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1645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16367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Matrix &amp; 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189280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Vecteur 7D hétérogène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224028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2286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22768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XGBoost — Classifieur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25328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Direction, AUC-ROC, split temporel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00600" y="288036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2926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40680" y="29169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XGBoost — Régresseur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31729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Amplitude, MAE, RMSE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352044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2040" y="35661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0680" y="35570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Backtesting &amp; Résultats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381304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Sharpe Ratio, Win Rate, benchmark S&amp;P 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416052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2040" y="4206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40680" y="41970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 complet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44531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De la donnée brute à la décision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960120"/>
            <a:ext cx="42976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40680" y="9966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01 — Problématique &amp; 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Comment prédire le comportement d'une action en combinant technique, actualités et IA 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9659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0515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916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Analyse
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RSI · Volatilité
MA 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60520"/>
            <a:ext cx="196596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3160" y="1005840"/>
            <a:ext cx="19659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515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6916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96"/>
                </a:solidFill>
              </a:rPr>
              <a:t>Actualités
financières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RAG + ChromaDB
+ Groq 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4160520"/>
            <a:ext cx="1965960" cy="381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1005840"/>
            <a:ext cx="19659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0515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6916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8C00"/>
                </a:solidFill>
              </a:rPr>
              <a:t>Intelligence
Artificielle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Agent ReAct
XGBoost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4160520"/>
            <a:ext cx="196596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1005840"/>
            <a:ext cx="19659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05156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16916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55FF"/>
                </a:solidFill>
              </a:rPr>
              <a:t>Prédiction
double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228600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4DE"/>
                </a:solidFill>
              </a:rPr>
              <a:t>Direction
+ Amplitude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4160520"/>
            <a:ext cx="1965960" cy="381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3434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C4DE"/>
                </a:solidFill>
              </a:rPr>
              <a:t>Enjeu : les marchés réagissent autant aux chiffres qu'aux mots — aucun modèle isolé ne capture les deux.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02 — Les Données — 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Deux phases d'expérimentation : données simulées → données Kaggle réelles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4251960" cy="1828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32688"/>
            <a:ext cx="63500" cy="1828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987552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Phase 1 — Données Simulées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30759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Problème : yfinance bloqué par le réseau universitaire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56362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Solution : génération de données OHLCV synthétiques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81965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Distribution statistique proche de la réalité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07568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AAPL · TSLA · NVDA — 1305 jours chacun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331720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6A"/>
                </a:solidFill>
              </a:rPr>
              <a:t>• AUC-ROC obtenu : 0.379 (proche du hasard)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2834640"/>
            <a:ext cx="4251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C4DE"/>
                </a:solidFill>
              </a:rPr>
              <a:t>⬇ Passage aux données réelles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154680"/>
            <a:ext cx="4251960" cy="15544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154680"/>
            <a:ext cx="63500" cy="155448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3209544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Phase 2 — Données Kaggle Réelles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547872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Stock Market Dataset — OHLCV réels 2018–2020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3803904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Financial Phrase Bank — 4846 headlines annotées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4059936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1500 news nettoyées ingérées dans ChromaDB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4315968"/>
            <a:ext cx="397763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• AUC-ROC : 0.379  →  0.645  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932688"/>
            <a:ext cx="1874519" cy="150876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932688"/>
            <a:ext cx="1874519" cy="82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0.379
→ 0.645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1687068"/>
            <a:ext cx="187451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⬆ AUC-ROC
après Kaggle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932688"/>
            <a:ext cx="1874519" cy="1508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932688"/>
            <a:ext cx="1874519" cy="82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1500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687068"/>
            <a:ext cx="187451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News nettoyées
ChromaDB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2670048"/>
            <a:ext cx="1874519" cy="15087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670048"/>
            <a:ext cx="1874519" cy="82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566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3424428"/>
            <a:ext cx="187451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Jours boursiers
par ticker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670048"/>
            <a:ext cx="1874519" cy="150876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670048"/>
            <a:ext cx="1874519" cy="829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150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424428"/>
            <a:ext cx="1874519" cy="45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Lignes feature
matrix finale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" y="4663440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456A"/>
                </a:solidFill>
              </a:rPr>
              <a:t>Split temporel strict : 70% train · 15% val · 15% test — jamais de shuffle aléatoire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03 — Datasets Kaggle — Détail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Deux datasets publics ont remplacé les données simulées pour améliorer la qualité du modèle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4251960" cy="3520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32688"/>
            <a:ext cx="63500" cy="3520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9875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① Stock Market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2984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Prix OHLCV réels — 2018 à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58191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566 jours boursiers par ticker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8379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3 tickers d'entraînement : AAPL · TSLA · NVDA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09397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Colonnes : Date · Open · High · Low · Close ·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35000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Remplace les données OHLCV synthétiques de la Phase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60604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Utilisé pour 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86207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Calcul RSI, Volatilité, MA Spread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12724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Entraînement GMM (régimes de marché)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339242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Cible XGBoost : retour J+1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65760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Backtest sur prix de marché authentiques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932688"/>
            <a:ext cx="4251960" cy="3520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09160" y="932688"/>
            <a:ext cx="63500" cy="35204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3752" y="98755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② Financial Phrase Bank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12984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Kaggle — 4846 headlines financières annotées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158191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4846 phrases annotées manuellement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18379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3 labels : positif · négatif · neutre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752" y="209397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Source : rapports financiers, presse économique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35000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Nettoyage &amp; filtrage : 1500 headlines retenues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260604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Ingérées dans ChromaDB (financial_news)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286207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Embedding : all-MiniLM-L6-v2 (384D)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312724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Métadonnées : ticker · date · label ·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3752" y="339242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Enrichit le RAG avec des exemples annotés réels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3752" y="365760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• Impact : AUC-ROC 0.379  →  0.645  (+70%)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572000"/>
            <a:ext cx="8778240" cy="256032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590288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456A"/>
                </a:solidFill>
              </a:rPr>
              <a:t>AUC-ROC avec données simulées : 0.379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9028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00E596"/>
                </a:solidFill>
              </a:rPr>
              <a:t>AUC-ROC avec données Kaggle : 0.645  ✓  (+70%)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04 — Architecture RAG &amp; Agent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RAG = Retrieval-Augmented Generation — l'agent récupère des faits avant de générer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60120"/>
            <a:ext cx="26517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05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Itération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98448"/>
            <a:ext cx="1188720" cy="12344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25880"/>
            <a:ext cx="1143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REASONING
Je dois connaître
le régime de marché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298448"/>
            <a:ext cx="1207008" cy="12344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1325880"/>
            <a:ext cx="11704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</a:rPr>
              <a:t>ACTION :
get_regime()
→ GMM 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960120"/>
            <a:ext cx="26517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005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Itération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90672" y="1298448"/>
            <a:ext cx="1188720" cy="12344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1325880"/>
            <a:ext cx="1143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REASONING
Je dois chercher
les news pertinentes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98448"/>
            <a:ext cx="1207008" cy="12344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1325880"/>
            <a:ext cx="11704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E596"/>
                </a:solidFill>
              </a:rPr>
              <a:t>ACTION :
search_news_db()
→ ChromaDB top-N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960120"/>
            <a:ext cx="2651760" cy="32004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005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Itération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25312" y="1298448"/>
            <a:ext cx="1188720" cy="12344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1325880"/>
            <a:ext cx="1143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REASONING
J'ai assez d'infos
pour générer un signal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1298448"/>
            <a:ext cx="1207008" cy="12344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1325880"/>
            <a:ext cx="117043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8C00"/>
                </a:solidFill>
              </a:rPr>
              <a:t>ACTION :
Groq LLaMA
→ JSON structuré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343400"/>
            <a:ext cx="2148840" cy="6217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" y="4361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21E"/>
                </a:solidFill>
              </a:rPr>
              <a:t>ChromaDB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" y="4608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121E"/>
                </a:solidFill>
              </a:rPr>
              <a:t>Base vectorielle locale
1500+ docs, 384 dimensions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41448" y="4343400"/>
            <a:ext cx="2148840" cy="62179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6312" y="4361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21E"/>
                </a:solidFill>
              </a:rPr>
              <a:t>all-MiniLM-L6-v2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6312" y="4608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121E"/>
                </a:solidFill>
              </a:rPr>
              <a:t>Modèle d'embedding
Texte → vecteurs 384D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0016" y="4343400"/>
            <a:ext cx="2148840" cy="6217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4361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21E"/>
                </a:solidFill>
              </a:rPr>
              <a:t>Groq LLaMA 3.3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4608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121E"/>
                </a:solidFill>
              </a:rPr>
              <a:t>Analyse sentiment
→ JSON : signal + confiance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58584" y="4343400"/>
            <a:ext cx="2148840" cy="621792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13448" y="436168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21E"/>
                </a:solidFill>
              </a:rPr>
              <a:t>decision_log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4608576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A121E"/>
                </a:solidFill>
              </a:rPr>
              <a:t>Traçabilité complète
450+ lignes de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05 — Analyse Technique — Couche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Extraction de 3 features quantitatives à partir des séries OHLCV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877824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32688"/>
            <a:ext cx="63500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98755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RSI — Relative Strength Index (période 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2801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Mesure la vitesse et l'amplitude des variations de prix.
RSI &lt; 30 → survente (signal d'achat potentiel)
RSI &gt; 70 → surachat (signal de vente potentiel)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987552"/>
            <a:ext cx="2880360" cy="59436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2" y="1042416"/>
            <a:ext cx="2734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RSI = 100 - 100 / (1 + RS)
RS = Gain moyen(14j) / Perte moyenne(14j)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618488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0C4DE"/>
                </a:solidFill>
              </a:rPr>
              <a:t>Implémentation manuelle (sans TA-Lib)
Calcul des gains/pertes moyens sur fenêtre glissante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286000"/>
            <a:ext cx="877824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2286000"/>
            <a:ext cx="63500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3408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Volatilité — Écart-type glissant (14j)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63347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Mesure le risque instantané du titre.
Forte volatilité → incertitude élevée → pondération réduite
Utilisée par le GMM comme proxy du risque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340864"/>
            <a:ext cx="2880360" cy="59436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2395728"/>
            <a:ext cx="2734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σ(t) = std( Δprix(t-13) … Δprix(t) )
Δprix = (Close(t) - Close(t-1)) / Close(t-1)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971800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0C4DE"/>
                </a:solidFill>
              </a:rPr>
              <a:t>Feature clé pour le clustering GMM
Correlée négativement avec le régime haussier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639312"/>
            <a:ext cx="8778240" cy="12344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3639312"/>
            <a:ext cx="63500" cy="12344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69417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MA Spread — Croisement de moyennes mobiles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98678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Capture la divergence court terme / long terme.
MA Spread &gt; 0 → tendance haussière de court terme
MA Spread &lt; 0 → tendance baissière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3694176"/>
            <a:ext cx="2880360" cy="59436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3672" y="3749040"/>
            <a:ext cx="2734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Spread = (MA10 - MA50) / MA50
Normalisé par MA50 pour comparabilité inter-tickers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325112"/>
            <a:ext cx="28803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0C4DE"/>
                </a:solidFill>
              </a:rPr>
              <a:t>Signal de momentum structurel
Base du signal technique envoyé au prompt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06 — Détection de Régime — Gaussian Mixture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Apprentissage non supervisé : identifier le contexte de marché avant d'analyser les news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4846320" cy="3703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Pourquoi le GMM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0759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K-Means impose des frontières dures — inadapté aux marchés financiers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60934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Le GMM offre une appartenance probabiliste (soft assignment)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1109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3 composantes (K=3) : Haussier · Calme · Baissier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2128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Chaque point suit un mélange de 3 gaussiennes multivariées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5786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Entrée &amp; Normalisation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80360"/>
            <a:ext cx="4572000" cy="50292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935224"/>
            <a:ext cx="44256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X = [RSI, Volatilité, MA_Spread]  →  StandardScaler  →  GMM.fit_predict(X)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5643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Propriétés clés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749039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Re-fit dynamique à chaque nouveau ticker détecté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014215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Résultat injecté comme feature dans la feature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79391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• Conditionne le prompt LLM (contexte de marché)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932688"/>
            <a:ext cx="3749039" cy="115214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80" y="932688"/>
            <a:ext cx="63500" cy="115214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6672" y="98755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Régime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12070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Haussier  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1508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RSI élevé · Faible volatilité · MA Spread positif
Momentum positif soutenu — contexte favorable au BUY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2185416"/>
            <a:ext cx="3749039" cy="115214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12080" y="2185416"/>
            <a:ext cx="63500" cy="1152144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76672" y="2240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Régime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24597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4DE"/>
                </a:solidFill>
              </a:rPr>
              <a:t>Calme  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27614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RSI neutre · Volatilité modérée · Spread proche 0
Marché sans tendance claire — signal HOLD probable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80" y="3438144"/>
            <a:ext cx="3749039" cy="1152144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12080" y="3438144"/>
            <a:ext cx="63500" cy="1152144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76672" y="349300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Régime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76672" y="371246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56A"/>
                </a:solidFill>
              </a:rPr>
              <a:t>Baissier  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4014216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RSI faible · Forte volatilité · MA Spread négatif
Pression vendeuse — contexte favorable au SELL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07 — Sentiment RAG — Couche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Retrieval-Augmented Generation : ancrer le LLM dans des faits financiers récents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4206240" cy="3611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① RETRIEVAL — ChromaDB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Collection : financial_news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819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Modèle d'embedding : all-MiniLM-L6-v2 (384D)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65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Ingestion : yfinance.Ticker(ticker).news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48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Chaque article → vecteur + métadonnées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43230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ticker · date · source · texte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7249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Requête : similarité cosinus filtrée par ticker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0083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C00"/>
                </a:solidFill>
              </a:rPr>
              <a:t>• Fallback automatique fetch live si index vide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383280"/>
            <a:ext cx="3931920" cy="41148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3438144"/>
            <a:ext cx="37856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sim(q, d) = cos(E(q), E(d))  →  top-N docs renvoyés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932688"/>
            <a:ext cx="4206240" cy="3611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987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② GENERATION — Groq LLaMA 3.3 70B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298448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API Groq (inférence rapide, faible latence)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155448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Modèle : LLaMA 3.3 70B Versatile (défaut)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181051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• Temperature = 0.1 — quasi-déterministe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06654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Prompt injecte 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ticker · date · régime GMM · headlines récupérés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58775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Sortie JSON stricte 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2843784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    ▸ sentiment  (bullish / bearish / neutral)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3108960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    ▸ confidence  (0.0 – 1.0)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374136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    ▸ signal  (BUY / SELL / HOLD)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639312"/>
            <a:ext cx="39319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reasoning  (texte explicatif)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08 — Feature Matrix &amp; Fusion des Couches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Construction du vecteur 7D qui alimente les modèles XGBoost supervisés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60120"/>
            <a:ext cx="8778240" cy="6858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Vecteur de Features — 7 dimensions hétérogènes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80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C4DE"/>
                </a:solidFill>
              </a:rPr>
              <a:t>feature_matrix_final.csv  —  90 lignes × 12 colonnes  —  30 jours × 3 tickers (AAPL · TSLA · NVDA)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1737360"/>
            <a:ext cx="1225296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</a:rPr>
              <a:t>RSI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14 périodes,
0–100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63040" y="1737360"/>
            <a:ext cx="1225296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Volatilité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σ rolling 14j,
retours quotidiens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1737360"/>
            <a:ext cx="1225296" cy="508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MA Spread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(MA10-MA50)/MA50,
normalisé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23360" y="1737360"/>
            <a:ext cx="1225296" cy="508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6908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055FF"/>
                </a:solidFill>
              </a:rPr>
              <a:t>Régime GMM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0/1/2
haussier·calme·baissier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2A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03520" y="1737360"/>
            <a:ext cx="1225296" cy="50800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456A"/>
                </a:solidFill>
              </a:rPr>
              <a:t>Sentiment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bullish/bearish/neutral
encodé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2B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0" y="1737360"/>
            <a:ext cx="1225296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00"/>
                </a:solidFill>
              </a:rPr>
              <a:t>Confiance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score LLM
0.0 – 1.0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2B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3840" y="1737360"/>
            <a:ext cx="1225296" cy="1737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63840" y="1737360"/>
            <a:ext cx="1225296" cy="508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1773936"/>
            <a:ext cx="1133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E596"/>
                </a:solidFill>
              </a:rPr>
              <a:t>Signal RAG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2139696"/>
            <a:ext cx="11338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BUY/SELL/HOLD
encodé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2651760"/>
            <a:ext cx="11338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0C4DE"/>
                </a:solidFill>
              </a:rPr>
              <a:t>Couche 2B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3977639"/>
            <a:ext cx="6400800" cy="640080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39776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XGBoost Classifier  →  Prob. de hausse &gt; 1%  |  XGBoost Regressor  →  Amplitude prédite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" y="466344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0C4DE"/>
                </a:solidFill>
              </a:rPr>
              <a:t>Cible classifieur : 1 si retour J+1 &gt; 1%   |   Cible régresseur : retour brut J+1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09 — XGBoost — Classifieur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Gradient Boosting supervisé : prédire si le titre va monter de plus de 1% le lendemain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512064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Principe — Gradient Boosting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4846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Ensemble d'arbres de décision entraînés séquentiellement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72768"/>
            <a:ext cx="4846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Chaque arbre corrige les erreurs du précédent (résidus)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47088"/>
            <a:ext cx="4846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Régularisation L1/L2 intégrée — résistant au surapprentissage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21408"/>
            <a:ext cx="4846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Hyperparamètres choisis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395728"/>
            <a:ext cx="48463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n_estimators=100  ·  max_depth=4  ·  learning_rate=0.1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42316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Cible binaire 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4846320" cy="41148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752344"/>
            <a:ext cx="470001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y = 1  si  retour(t+1) &gt; 1%   |   y = 0  sinon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218688"/>
            <a:ext cx="5120640" cy="1143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27355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6A"/>
                </a:solidFill>
              </a:rPr>
              <a:t>Split temporel strict (no data leakage)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93592"/>
            <a:ext cx="3383280" cy="3200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03320" y="3593592"/>
            <a:ext cx="749808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53128" y="3593592"/>
            <a:ext cx="749808" cy="320040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5935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21E"/>
                </a:solidFill>
              </a:rPr>
              <a:t>Train 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593592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21E"/>
                </a:solidFill>
              </a:rPr>
              <a:t>Val 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593592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21E"/>
                </a:solidFill>
              </a:rPr>
              <a:t>Test 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977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456A"/>
                </a:solidFill>
              </a:rPr>
              <a:t>⚠ Jamais de split aléatoire sur données financières — look-ahead bias fatal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932688"/>
            <a:ext cx="1572768" cy="162763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932688"/>
            <a:ext cx="1572768" cy="895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0.689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1746504"/>
            <a:ext cx="1572768" cy="48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AUC-ROC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202240"/>
            <a:ext cx="1572768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Pouvoir discriminant
au-dessus du hasard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932688"/>
            <a:ext cx="1572768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932688"/>
            <a:ext cx="1572768" cy="895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0.491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1746504"/>
            <a:ext cx="1572768" cy="48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Recall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202240"/>
            <a:ext cx="1572768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Sensibilité aux
hausses &gt; 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32120" y="2779776"/>
            <a:ext cx="1572768" cy="1627632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2779776"/>
            <a:ext cx="1572768" cy="895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0.060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32120" y="3593592"/>
            <a:ext cx="1572768" cy="48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Precision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049328"/>
            <a:ext cx="1572768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Ratio vrais positifs
(dataset déséquilibré)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779776"/>
            <a:ext cx="1572768" cy="16276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779776"/>
            <a:ext cx="1572768" cy="895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0.107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593592"/>
            <a:ext cx="1572768" cy="488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F1-Score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049328"/>
            <a:ext cx="1572768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Compromis
précision / rappel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10 — XGBoost — Régresseur d'Amplitude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Prédire l'amplitude de la variation journalière pour calibrer la taille de 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32688"/>
            <a:ext cx="5120640" cy="228600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875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Rôle du Régresseur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298448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Complète le classifieur : la direction ne suffit pas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55448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Prédit le retour brut J+1 (valeur continue)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810512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Utilisé par le backtester pour pondérer la position 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066544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596"/>
                </a:solidFill>
              </a:rPr>
              <a:t>    ▸ Signal BUY + amplitude &gt; 1.5%  →  position boostée (×2.0 max)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331720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    ▸ Signal BUY standard  →  poids de base 1.2×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596896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456A"/>
                </a:solidFill>
              </a:rPr>
              <a:t>    ▸ Signal SELL  →  sortie de position (0×)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862072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Même architecture XGBoost, même feature 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118104"/>
            <a:ext cx="48463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Entraîné simultanément avec le classifieur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10128"/>
            <a:ext cx="4846320" cy="45720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3364992"/>
            <a:ext cx="4700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D4FF"/>
                </a:solidFill>
              </a:rPr>
              <a:t>Cible : y = (Close(t+1) - Close(t)) / Close(t)  — retour logarithmique J+1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858768"/>
            <a:ext cx="5120640" cy="86868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913632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Métriques de régression (jeu de test) 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18795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MAE  = 0.061   (Mean Absolute Error)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42569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RMSE = 0.086   (Root Mean Squared Error)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663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Acc. directionnelle = 45.5%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932688"/>
            <a:ext cx="3566160" cy="37947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32120" y="9875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96"/>
                </a:solidFill>
              </a:rPr>
              <a:t>Position Sizing — Backtester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32120" y="1389888"/>
            <a:ext cx="33375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96128" y="1435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596"/>
                </a:solidFill>
              </a:rPr>
              <a:t>BUY + amplitude &gt; 1.5%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96128" y="17282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Poids ×2.0  (boost)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2148840"/>
            <a:ext cx="33375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8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BUY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24871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Poids ×1.2  (base)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2907792"/>
            <a:ext cx="33375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96128" y="2953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C4DE"/>
                </a:solidFill>
              </a:rPr>
              <a:t>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96128" y="3246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Poids ×1.0  (neutre)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3666744"/>
            <a:ext cx="3337560" cy="658368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96128" y="37124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56A"/>
                </a:solidFill>
              </a:rPr>
              <a:t>SELL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128" y="4005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Poids ×0.0  (exit)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4434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C4DE"/>
                </a:solidFill>
              </a:rPr>
              <a:t>Coûts de transaction : 0.1% commission + 0.05% slippage = 0.15%/trade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11 — Backtesting &amp;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</a:rPr>
              <a:t>Simulation de portefeuille — Mars–Avril 2026 — Benchmark : S&amp;P 500 (^GSPC)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960120"/>
            <a:ext cx="1700784" cy="1600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960120"/>
            <a:ext cx="1700784" cy="88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2.625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760220"/>
            <a:ext cx="17007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Sharpe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208276"/>
            <a:ext cx="170078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Excellent (&gt; 1.2 = alpha)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7672" y="960120"/>
            <a:ext cx="1700784" cy="1600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7672" y="960120"/>
            <a:ext cx="1700784" cy="88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60.0%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7672" y="1760220"/>
            <a:ext cx="17007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Win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7672" y="2208276"/>
            <a:ext cx="170078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60% de trades gagnants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12464" y="960120"/>
            <a:ext cx="1700784" cy="1600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960120"/>
            <a:ext cx="1700784" cy="88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+2.01%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2464" y="1760220"/>
            <a:ext cx="17007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Rendement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2208276"/>
            <a:ext cx="170078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Sur la période de 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77256" y="960120"/>
            <a:ext cx="1700784" cy="1600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6" y="960120"/>
            <a:ext cx="1700784" cy="88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-2.19%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6" y="1760220"/>
            <a:ext cx="17007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Max Drawdown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6" y="2208276"/>
            <a:ext cx="170078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Risque maximal observé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960120"/>
            <a:ext cx="1700784" cy="160020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42048" y="960120"/>
            <a:ext cx="1700784" cy="88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121E"/>
                </a:solidFill>
              </a:rPr>
              <a:t>48.4%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1760220"/>
            <a:ext cx="1700784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Réduction Risque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2208276"/>
            <a:ext cx="1700784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A121E"/>
                </a:solidFill>
              </a:rPr>
              <a:t>vs S&amp;P 500 sur même période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2670048"/>
            <a:ext cx="8778240" cy="25603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68833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Rappel métriques classifieur 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268833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AUC-ROC : 0.689   •   Recall : 0.491   •   F1 : 0.107   •   Precision : 0.060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2999232"/>
            <a:ext cx="8778240" cy="1691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05409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Modèle de Backtest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3364992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• Exécution : achat/vente au prix Open(T+1) — mesure P&amp;L jusqu'au Close(T+1)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621024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Coûts : 0.1% commission + 0.05% slippage = 0.15% par trade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3877056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Portefeuille initial : 10 000 $ répartis sur tous les tickers actifs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133088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</a:rPr>
              <a:t>• Sharpe annualisé : √252 × (μ_retours / σ_retours)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389120"/>
            <a:ext cx="8412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• Statut «Alpha Generated» déclenché quand Sharpe &gt; 1.2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412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</a:rPr>
              <a:t>12 — Pipeline Complet — De la donnée brute à la décision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932688"/>
            <a:ext cx="1097280" cy="1920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①
Données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OHLCV + News
yfinance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71016" y="932688"/>
            <a:ext cx="1097280" cy="1920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1016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②
Indicateurs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RSI · Vol
MA Spread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4872" y="932688"/>
            <a:ext cx="1097280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③
Régimes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GMM
K=3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8728" y="932688"/>
            <a:ext cx="1097280" cy="192024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④
Agent ReAct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3 iter.
RAG +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72584" y="932688"/>
            <a:ext cx="1097280" cy="1920240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⑤
Feature
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7 features
90 lignes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79008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932688"/>
            <a:ext cx="1097280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⑥
XGBoost
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Classif. +
Régresseur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0296" y="932688"/>
            <a:ext cx="1097280" cy="192024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0296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⑦
Prédiction
Double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0296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Direction
+ Amplitude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1627632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4152" y="932688"/>
            <a:ext cx="1097280" cy="1920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74152" y="932688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21E"/>
                </a:solidFill>
              </a:rPr>
              <a:t>⑧
GUI
Electron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4152" y="1965960"/>
            <a:ext cx="1097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A121E"/>
                </a:solidFill>
              </a:rPr>
              <a:t>BUY/SELL/HOLD
Temps réel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971800"/>
            <a:ext cx="8778240" cy="3200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2999232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C4DE"/>
                </a:solidFill>
              </a:rPr>
              <a:t>Entrée utilisateur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2999232"/>
            <a:ext cx="6675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Ticker + Date  →  inference.py déclenche l'agent ReAct (3 itérations max)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346704"/>
            <a:ext cx="8778240" cy="3200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374136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Agent ReAct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374136"/>
            <a:ext cx="6675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get_regime()  →  search_news_db()  →  Groq LLaMA → JSON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3721608"/>
            <a:ext cx="8778240" cy="3200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749040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C00"/>
                </a:solidFill>
              </a:rPr>
              <a:t>Feature Matrix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3749040"/>
            <a:ext cx="6675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RSI + Vol + MA + regime_id + sentiment + confidence + rag_signal  →  vecteur 7D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096512"/>
            <a:ext cx="8778240" cy="3200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123944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E596"/>
                </a:solidFill>
              </a:rPr>
              <a:t>XGBoost 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4123944"/>
            <a:ext cx="6675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Direction (HAUSSE/BAISSE) + Probabilité % + Amplitude prédite ±xx%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471416"/>
            <a:ext cx="8778240" cy="32004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4498848"/>
            <a:ext cx="19202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GUI Electron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4498848"/>
            <a:ext cx="66751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Affichage BUY/SELL/HOLD + Agent Thought Stream en temps réel via FastAPI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D4FF"/>
                </a:solidFill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901184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Avril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32688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Sentirade-RAG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441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B0C4DE"/>
                </a:solidFill>
              </a:rPr>
              <a:t>Un pipeline ML complet, multi-modal, de bout en bout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10512"/>
            <a:ext cx="292608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81051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10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Agent ReAct RAG justifié par decision_log.csv (450+ lignes de log autonomes)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292608" cy="292608"/>
          </a:xfrm>
          <a:prstGeom prst="rect">
            <a:avLst/>
          </a:prstGeom>
          <a:solidFill>
            <a:srgbClr val="FF4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194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94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56A"/>
                </a:solidFill>
              </a:rPr>
              <a:t>Split temporel strict — jamais de data leakage sur données financières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578608"/>
            <a:ext cx="292608" cy="2926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5786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786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Double prédiction : direction (XGBoost Classifier) + amplitude (XGBoost Regressor)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62656"/>
            <a:ext cx="292608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96265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962656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GMM non supervisé pour contextualiser le marché avant l'appel LLM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346704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3467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34670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Interface Electron + FastAPI + yfinance temps réel — démo live possible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730752"/>
            <a:ext cx="292608" cy="29260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37307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21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307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AUC-ROC 0.689 · Sharpe Ratio 2.625 · Win Rate 60% · Réduction risque 48.4%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709160"/>
            <a:ext cx="9144000" cy="18288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718304"/>
            <a:ext cx="859536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0C4DE"/>
                </a:solidFill>
              </a:rPr>
              <a:t>ISITD 2024 — S4 Machine Learning   |   github.com/wia-mej/sentirade-rag1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